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4157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074687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7471866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8582368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49002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117838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3039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300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5923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1AD748-050D-3A46-06F6-C37122A21A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416C05-B095-3F42-9EBD-CB9EEA34F6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38C13-2210-3D10-C5E1-89336750EB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5CAF90-844E-D549-DF04-22E3A1DC89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DBCDE7-6F36-C8A0-551A-10A1D37A08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9066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9361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0746742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68548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1929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7323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50501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743908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381214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98842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074616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704621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15290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254965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979956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1221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627357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38032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30158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24761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00476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0679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49096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24012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590796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3312618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193717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71431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61671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8122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63672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433756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3355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076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43497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490220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95997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137774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79349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613372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00574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082957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5180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524078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184638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76137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25498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60546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6947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34572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39245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33138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9145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728381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242318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65600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45458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05675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717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355402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943926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3754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637841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7907" name=""/>
          <p:cNvSpPr txBox="1"/>
          <p:nvPr/>
        </p:nvSpPr>
        <p:spPr bwMode="auto">
          <a:xfrm rot="0" flipH="0" flipV="0">
            <a:off x="28987" y="-16221"/>
            <a:ext cx="340682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07/11/2025</a:t>
            </a:r>
            <a:endParaRPr sz="2200"/>
          </a:p>
        </p:txBody>
      </p:sp>
      <p:pic>
        <p:nvPicPr>
          <p:cNvPr id="5742712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08343" y="2764057"/>
            <a:ext cx="6204343" cy="4063287"/>
          </a:xfrm>
          <a:prstGeom prst="rect">
            <a:avLst/>
          </a:prstGeom>
        </p:spPr>
      </p:pic>
      <p:pic>
        <p:nvPicPr>
          <p:cNvPr id="184208963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044777" y="2764057"/>
            <a:ext cx="6204343" cy="4063287"/>
          </a:xfrm>
          <a:prstGeom prst="rect">
            <a:avLst/>
          </a:prstGeom>
        </p:spPr>
      </p:pic>
      <p:sp>
        <p:nvSpPr>
          <p:cNvPr id="1876915102" name=""/>
          <p:cNvSpPr txBox="1"/>
          <p:nvPr/>
        </p:nvSpPr>
        <p:spPr bwMode="auto">
          <a:xfrm rot="0" flipH="0" flipV="0">
            <a:off x="2261492" y="410857"/>
            <a:ext cx="693558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Dataset: Tất cả ảnh có bệnh + 1000 ảnh không bệnh</a:t>
            </a:r>
            <a:endParaRPr/>
          </a:p>
        </p:txBody>
      </p:sp>
      <p:sp>
        <p:nvSpPr>
          <p:cNvPr id="885995595" name=""/>
          <p:cNvSpPr txBox="1"/>
          <p:nvPr/>
        </p:nvSpPr>
        <p:spPr bwMode="auto">
          <a:xfrm rot="0" flipH="0" flipV="0">
            <a:off x="1088672" y="976205"/>
            <a:ext cx="10454218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/>
              <a:t>Vấn đề 1: Model bị nhầm lẫn vùng bệnh với background</a:t>
            </a:r>
            <a:endParaRPr/>
          </a:p>
          <a:p>
            <a:pPr marL="683929" marR="0" lvl="1" indent="-283879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b="1">
                <a:solidFill>
                  <a:srgbClr val="FF0000"/>
                </a:solidFill>
              </a:rPr>
              <a:t>Model bị yếu</a:t>
            </a:r>
            <a:r>
              <a:rPr/>
              <a:t> =&gt; Thử </a:t>
            </a:r>
            <a:r>
              <a:rPr b="1">
                <a:solidFill>
                  <a:srgbClr val="FF0000"/>
                </a:solidFill>
              </a:rPr>
              <a:t>tăng </a:t>
            </a:r>
            <a:r>
              <a:rPr/>
              <a:t>size model =&gt;</a:t>
            </a:r>
            <a:r>
              <a:rPr b="1"/>
              <a:t> </a:t>
            </a:r>
            <a:r>
              <a:rPr b="1">
                <a:solidFill>
                  <a:srgbClr val="FF0000"/>
                </a:solidFill>
              </a:rPr>
              <a:t>mAP tăng không đáng kể</a:t>
            </a:r>
            <a:endParaRPr b="1">
              <a:solidFill>
                <a:srgbClr val="FF0000"/>
              </a:solidFill>
            </a:endParaRPr>
          </a:p>
          <a:p>
            <a:pPr marL="683929" lvl="1" indent="-283879" algn="just">
              <a:buFont typeface="Arial"/>
              <a:buChar char="•"/>
              <a:defRPr/>
            </a:pPr>
            <a:r>
              <a:rPr/>
              <a:t>Kiểm tra dữ liệu thì phát hiện </a:t>
            </a:r>
            <a:r>
              <a:rPr b="1">
                <a:solidFill>
                  <a:srgbClr val="FF0000"/>
                </a:solidFill>
              </a:rPr>
              <a:t>hơn 1700 cặp boxes có IoU &gt; 0.9</a:t>
            </a:r>
            <a:endParaRPr/>
          </a:p>
          <a:p>
            <a:pPr lvl="1" algn="just">
              <a:defRPr/>
            </a:pPr>
            <a:r>
              <a:rPr/>
              <a:t>	 =&gt; Suy đoán:</a:t>
            </a:r>
            <a:r>
              <a:rPr b="1"/>
              <a:t> model bị confuse</a:t>
            </a:r>
            <a:r>
              <a:rPr/>
              <a:t> ghi gặp feature vừa ở class A vừa ở class B thay vì output ra 1 box mà class đó có dữ liệu nhiều hơn (</a:t>
            </a:r>
            <a:r>
              <a:rPr b="1"/>
              <a:t>imbalance</a:t>
            </a:r>
            <a:r>
              <a:rPr/>
              <a:t>) thì model </a:t>
            </a:r>
            <a:r>
              <a:rPr b="1"/>
              <a:t>bỏ qua</a:t>
            </a:r>
            <a:r>
              <a:rPr/>
              <a:t> luôn vùng đó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437995" name=""/>
          <p:cNvSpPr txBox="1"/>
          <p:nvPr/>
        </p:nvSpPr>
        <p:spPr bwMode="auto">
          <a:xfrm rot="0" flipH="0" flipV="0">
            <a:off x="28986" y="-16221"/>
            <a:ext cx="3407184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07/11/2025</a:t>
            </a:r>
            <a:endParaRPr sz="2200"/>
          </a:p>
        </p:txBody>
      </p:sp>
      <p:sp>
        <p:nvSpPr>
          <p:cNvPr id="1937347014" name=""/>
          <p:cNvSpPr txBox="1"/>
          <p:nvPr/>
        </p:nvSpPr>
        <p:spPr bwMode="auto">
          <a:xfrm rot="0" flipH="0" flipV="0">
            <a:off x="964506" y="1637631"/>
            <a:ext cx="10477552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Ý tưởng:</a:t>
            </a:r>
            <a:endParaRPr/>
          </a:p>
          <a:p>
            <a:pPr marL="683929" lvl="1" indent="-283879">
              <a:buAutoNum type="arabicPeriod"/>
              <a:defRPr/>
            </a:pPr>
            <a:r>
              <a:rPr strike="sngStrike"/>
              <a:t>Train YOLO với </a:t>
            </a:r>
            <a:r>
              <a:rPr b="1" strike="sngStrike"/>
              <a:t>14 classes gốc + 1 class unknown</a:t>
            </a:r>
            <a:r>
              <a:rPr strike="sngStrike"/>
              <a:t> - là những cặp box có IoU &gt; 0.9</a:t>
            </a:r>
            <a:endParaRPr strike="sngStrike"/>
          </a:p>
          <a:p>
            <a:pPr lvl="2">
              <a:defRPr/>
            </a:pPr>
            <a:r>
              <a:rPr lang="en-US" sz="1800" b="0" i="0" u="none" strike="sng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=&gt; Map box về ảnh gốc =&gt; dùng model classify/emdedding để phân loại box đó</a:t>
            </a:r>
            <a:endParaRPr/>
          </a:p>
          <a:p>
            <a:pPr marL="683929" lvl="1" indent="-283879">
              <a:buAutoNum type="arabicPeriod"/>
              <a:defRPr/>
            </a:pPr>
            <a:r>
              <a:rPr/>
              <a:t>Train YOLO </a:t>
            </a:r>
            <a:r>
              <a:rPr b="1"/>
              <a:t>1 class</a:t>
            </a:r>
            <a:r>
              <a:rPr/>
              <a:t> như 1 bộ localise =&gt; Map box =&gt; Train classify</a:t>
            </a:r>
            <a:endParaRPr/>
          </a:p>
        </p:txBody>
      </p:sp>
      <p:sp>
        <p:nvSpPr>
          <p:cNvPr id="425844862" name=""/>
          <p:cNvSpPr txBox="1"/>
          <p:nvPr/>
        </p:nvSpPr>
        <p:spPr bwMode="auto">
          <a:xfrm rot="0" flipH="0" flipV="0">
            <a:off x="1956841" y="3709736"/>
            <a:ext cx="940232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=&gt; Thêm nhánh heatmap </a:t>
            </a:r>
            <a:r>
              <a:rPr/>
              <a:t>(gôm các box có IoU lớn về 1 box)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550118" name=""/>
          <p:cNvSpPr txBox="1"/>
          <p:nvPr/>
        </p:nvSpPr>
        <p:spPr bwMode="auto">
          <a:xfrm rot="0" flipH="0" flipV="0">
            <a:off x="28986" y="-16221"/>
            <a:ext cx="3407544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07/11/2025</a:t>
            </a:r>
            <a:endParaRPr sz="2200"/>
          </a:p>
        </p:txBody>
      </p:sp>
      <p:sp>
        <p:nvSpPr>
          <p:cNvPr id="943700752" name=""/>
          <p:cNvSpPr txBox="1"/>
          <p:nvPr/>
        </p:nvSpPr>
        <p:spPr bwMode="auto">
          <a:xfrm rot="0" flipH="0" flipV="0">
            <a:off x="1088671" y="976204"/>
            <a:ext cx="1062845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/>
              <a:t>Vấn đề 2: Mặc dù đã gôm 1 class lại train nhưng mAP của tập train vẫn không quá tốt</a:t>
            </a:r>
            <a:endParaRPr/>
          </a:p>
          <a:p>
            <a:pPr algn="just">
              <a:defRPr/>
            </a:pPr>
            <a:r>
              <a:rPr/>
              <a:t>	=&gt; Tập train - val chưa thật sự cùng phân phối</a:t>
            </a:r>
            <a:endParaRPr/>
          </a:p>
        </p:txBody>
      </p:sp>
      <p:pic>
        <p:nvPicPr>
          <p:cNvPr id="4428262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986" y="1939038"/>
            <a:ext cx="12188118" cy="4031309"/>
          </a:xfrm>
          <a:prstGeom prst="rect">
            <a:avLst/>
          </a:prstGeom>
        </p:spPr>
      </p:pic>
      <p:sp>
        <p:nvSpPr>
          <p:cNvPr id="1083852741" name=""/>
          <p:cNvSpPr txBox="1"/>
          <p:nvPr/>
        </p:nvSpPr>
        <p:spPr bwMode="auto">
          <a:xfrm rot="0" flipH="0" flipV="0">
            <a:off x="1973552" y="6216315"/>
            <a:ext cx="85295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Train</a:t>
            </a:r>
            <a:endParaRPr/>
          </a:p>
        </p:txBody>
      </p:sp>
      <p:sp>
        <p:nvSpPr>
          <p:cNvPr id="1929231310" name=""/>
          <p:cNvSpPr txBox="1"/>
          <p:nvPr/>
        </p:nvSpPr>
        <p:spPr bwMode="auto">
          <a:xfrm rot="0" flipH="0" flipV="0">
            <a:off x="8190136" y="6216315"/>
            <a:ext cx="85619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Val</a:t>
            </a:r>
            <a:endParaRPr/>
          </a:p>
        </p:txBody>
      </p:sp>
      <p:pic>
        <p:nvPicPr>
          <p:cNvPr id="17169212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88671" y="3009732"/>
            <a:ext cx="4971365" cy="1552240"/>
          </a:xfrm>
          <a:prstGeom prst="rect">
            <a:avLst/>
          </a:prstGeom>
        </p:spPr>
      </p:pic>
      <p:pic>
        <p:nvPicPr>
          <p:cNvPr id="107452816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200375" y="3070270"/>
            <a:ext cx="4583596" cy="1431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24229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409473" y="309980"/>
            <a:ext cx="13183886" cy="6605670"/>
          </a:xfrm>
          <a:prstGeom prst="rect">
            <a:avLst/>
          </a:prstGeom>
        </p:spPr>
      </p:pic>
      <p:sp>
        <p:nvSpPr>
          <p:cNvPr id="1286138917" name=""/>
          <p:cNvSpPr txBox="1"/>
          <p:nvPr/>
        </p:nvSpPr>
        <p:spPr bwMode="auto">
          <a:xfrm rot="0" flipH="0" flipV="0">
            <a:off x="3912936" y="43367"/>
            <a:ext cx="436612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=&gt; Norm từng gaussian về [0, 1]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90821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305704" y="1203157"/>
            <a:ext cx="12182710" cy="5522828"/>
          </a:xfrm>
          <a:prstGeom prst="rect">
            <a:avLst/>
          </a:prstGeom>
        </p:spPr>
      </p:pic>
      <p:sp>
        <p:nvSpPr>
          <p:cNvPr id="1954692272" name=""/>
          <p:cNvSpPr txBox="1"/>
          <p:nvPr/>
        </p:nvSpPr>
        <p:spPr bwMode="auto">
          <a:xfrm rot="0" flipH="0" flipV="0">
            <a:off x="1572499" y="167105"/>
            <a:ext cx="247315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322263528" name=""/>
          <p:cNvSpPr txBox="1"/>
          <p:nvPr/>
        </p:nvSpPr>
        <p:spPr bwMode="auto">
          <a:xfrm rot="0" flipH="0" flipV="0">
            <a:off x="3009605" y="350165"/>
            <a:ext cx="71026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có những điểm là overlap giữa các box =&gt; heat &gt; 1 =&gt; clip về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01240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67105" y="700087"/>
            <a:ext cx="12734924" cy="5457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2025-11-08T04:40:40Z</dcterms:modified>
</cp:coreProperties>
</file>