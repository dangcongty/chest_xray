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03005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840935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45554993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758551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38332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3747934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239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353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72206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7294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65767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4935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AD748-050D-3A46-06F6-C37122A21A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9002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75423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534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416C05-B095-3F42-9EBD-CB9EEA34F62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48319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20928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9868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38C13-2210-3D10-C5E1-89336750EB7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5856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3601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2726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5CAF90-844E-D549-DF04-22E3A1DC89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830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93354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074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DBCDE7-6F36-C8A0-551A-10A1D37A082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9772AA-7758-B939-6382-DA7062BD49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5A4836-3864-5CAB-2B90-53A48CE7C2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09585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2938269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538904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754727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4271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079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2087154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908428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22844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89598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74431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027877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863420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0899373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30811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50525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166906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515008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507486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1721305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360465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71864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580091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2992858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0846470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97765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1279748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297940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944995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9456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8365426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351731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611887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5554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9107783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960037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70453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316473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31934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341976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827181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061178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09469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742294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6460941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784511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476612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74353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8120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480791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54533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892462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74904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32040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6387334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46190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05373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47011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2561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0428236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0578965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1351252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6446262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9912348" name=""/>
          <p:cNvSpPr txBox="1"/>
          <p:nvPr/>
        </p:nvSpPr>
        <p:spPr bwMode="auto">
          <a:xfrm rot="0" flipH="0" flipV="0">
            <a:off x="28987" y="-16221"/>
            <a:ext cx="3406825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07/11/2025</a:t>
            </a:r>
            <a:endParaRPr sz="2200"/>
          </a:p>
        </p:txBody>
      </p:sp>
      <p:pic>
        <p:nvPicPr>
          <p:cNvPr id="54340673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-108343" y="2764057"/>
            <a:ext cx="6204343" cy="4063287"/>
          </a:xfrm>
          <a:prstGeom prst="rect">
            <a:avLst/>
          </a:prstGeom>
        </p:spPr>
      </p:pic>
      <p:pic>
        <p:nvPicPr>
          <p:cNvPr id="32382852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044777" y="2764057"/>
            <a:ext cx="6204343" cy="4063287"/>
          </a:xfrm>
          <a:prstGeom prst="rect">
            <a:avLst/>
          </a:prstGeom>
        </p:spPr>
      </p:pic>
      <p:sp>
        <p:nvSpPr>
          <p:cNvPr id="667690164" name=""/>
          <p:cNvSpPr txBox="1"/>
          <p:nvPr/>
        </p:nvSpPr>
        <p:spPr bwMode="auto">
          <a:xfrm rot="0" flipH="0" flipV="0">
            <a:off x="2261492" y="410857"/>
            <a:ext cx="693558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Dataset: Tất cả ảnh có bệnh + 1000 ảnh không bệnh</a:t>
            </a:r>
            <a:endParaRPr/>
          </a:p>
        </p:txBody>
      </p:sp>
      <p:sp>
        <p:nvSpPr>
          <p:cNvPr id="161783267" name=""/>
          <p:cNvSpPr txBox="1"/>
          <p:nvPr/>
        </p:nvSpPr>
        <p:spPr bwMode="auto">
          <a:xfrm rot="0" flipH="0" flipV="0">
            <a:off x="1088672" y="976205"/>
            <a:ext cx="10454218" cy="14634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Vấn đề 1: Model bị nhầm lẫn vùng bệnh với background</a:t>
            </a:r>
            <a:endParaRPr/>
          </a:p>
          <a:p>
            <a:pPr marL="683929" marR="0" lvl="1" indent="-283879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b="1">
                <a:solidFill>
                  <a:srgbClr val="FF0000"/>
                </a:solidFill>
              </a:rPr>
              <a:t>Model bị yếu</a:t>
            </a:r>
            <a:r>
              <a:rPr/>
              <a:t> =&gt; Thử </a:t>
            </a:r>
            <a:r>
              <a:rPr b="1">
                <a:solidFill>
                  <a:srgbClr val="FF0000"/>
                </a:solidFill>
              </a:rPr>
              <a:t>tăng </a:t>
            </a:r>
            <a:r>
              <a:rPr/>
              <a:t>size model =&gt;</a:t>
            </a:r>
            <a:r>
              <a:rPr b="1"/>
              <a:t> </a:t>
            </a:r>
            <a:r>
              <a:rPr b="1">
                <a:solidFill>
                  <a:srgbClr val="FF0000"/>
                </a:solidFill>
              </a:rPr>
              <a:t>mAP tăng không đáng kể</a:t>
            </a:r>
            <a:endParaRPr b="1">
              <a:solidFill>
                <a:srgbClr val="FF0000"/>
              </a:solidFill>
            </a:endParaRPr>
          </a:p>
          <a:p>
            <a:pPr marL="683929" lvl="1" indent="-283879" algn="just">
              <a:buFont typeface="Arial"/>
              <a:buChar char="•"/>
              <a:defRPr/>
            </a:pPr>
            <a:r>
              <a:rPr/>
              <a:t>Kiểm tra dữ liệu thì phát hiện </a:t>
            </a:r>
            <a:r>
              <a:rPr b="1">
                <a:solidFill>
                  <a:srgbClr val="FF0000"/>
                </a:solidFill>
              </a:rPr>
              <a:t>hơn 1700 cặp boxes có IoU &gt; 0.9</a:t>
            </a:r>
            <a:endParaRPr/>
          </a:p>
          <a:p>
            <a:pPr lvl="1" algn="just">
              <a:defRPr/>
            </a:pPr>
            <a:r>
              <a:rPr/>
              <a:t>	 =&gt; Suy đoán:</a:t>
            </a:r>
            <a:r>
              <a:rPr b="1"/>
              <a:t> model bị confuse</a:t>
            </a:r>
            <a:r>
              <a:rPr/>
              <a:t> ghi gặp feature vừa ở class A vừa ở class B thay vì output ra 1 box mà class đó có dữ liệu nhiều hơn (</a:t>
            </a:r>
            <a:r>
              <a:rPr b="1"/>
              <a:t>imbalance</a:t>
            </a:r>
            <a:r>
              <a:rPr/>
              <a:t>) thì model </a:t>
            </a:r>
            <a:r>
              <a:rPr b="1"/>
              <a:t>bỏ qua</a:t>
            </a:r>
            <a:r>
              <a:rPr/>
              <a:t> luôn vùng đó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134523" name=""/>
          <p:cNvSpPr txBox="1"/>
          <p:nvPr/>
        </p:nvSpPr>
        <p:spPr bwMode="auto">
          <a:xfrm rot="0" flipH="0" flipV="0">
            <a:off x="28986" y="-16221"/>
            <a:ext cx="3407184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07/11/2025</a:t>
            </a:r>
            <a:endParaRPr sz="2200"/>
          </a:p>
        </p:txBody>
      </p:sp>
      <p:sp>
        <p:nvSpPr>
          <p:cNvPr id="906363960" name=""/>
          <p:cNvSpPr txBox="1"/>
          <p:nvPr/>
        </p:nvSpPr>
        <p:spPr bwMode="auto">
          <a:xfrm rot="0" flipH="0" flipV="0">
            <a:off x="964506" y="1637631"/>
            <a:ext cx="10477552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Ý tưởng:</a:t>
            </a:r>
            <a:endParaRPr/>
          </a:p>
          <a:p>
            <a:pPr marL="683929" lvl="1" indent="-283879">
              <a:buAutoNum type="arabicPeriod"/>
              <a:defRPr/>
            </a:pPr>
            <a:r>
              <a:rPr strike="sngStrike"/>
              <a:t>Train YOLO với </a:t>
            </a:r>
            <a:r>
              <a:rPr b="1" strike="sngStrike"/>
              <a:t>14 classes gốc + 1 class unknown</a:t>
            </a:r>
            <a:r>
              <a:rPr strike="sngStrike"/>
              <a:t> - là những cặp box có IoU &gt; 0.9</a:t>
            </a:r>
            <a:endParaRPr strike="sngStrike"/>
          </a:p>
          <a:p>
            <a:pPr lvl="2">
              <a:defRPr/>
            </a:pPr>
            <a:r>
              <a:rPr lang="en-US" sz="1800" b="0" i="0" u="none" strike="sng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=&gt; Map box về ảnh gốc =&gt; dùng model classify/emdedding để phân loại box đó</a:t>
            </a:r>
            <a:endParaRPr/>
          </a:p>
          <a:p>
            <a:pPr marL="683929" lvl="1" indent="-283879">
              <a:buAutoNum type="arabicPeriod"/>
              <a:defRPr/>
            </a:pPr>
            <a:r>
              <a:rPr/>
              <a:t>Train YOLO </a:t>
            </a:r>
            <a:r>
              <a:rPr b="1"/>
              <a:t>1 class</a:t>
            </a:r>
            <a:r>
              <a:rPr/>
              <a:t> như 1 bộ localise =&gt; Map box =&gt; Train classify</a:t>
            </a:r>
            <a:endParaRPr/>
          </a:p>
        </p:txBody>
      </p:sp>
      <p:sp>
        <p:nvSpPr>
          <p:cNvPr id="612198847" name=""/>
          <p:cNvSpPr txBox="1"/>
          <p:nvPr/>
        </p:nvSpPr>
        <p:spPr bwMode="auto">
          <a:xfrm rot="0" flipH="0" flipV="0">
            <a:off x="1956841" y="3709736"/>
            <a:ext cx="940232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=&gt; Thêm nhánh heatmap </a:t>
            </a:r>
            <a:r>
              <a:rPr/>
              <a:t>(gôm các box có IoU lớn về 1 box)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163632" name=""/>
          <p:cNvSpPr txBox="1"/>
          <p:nvPr/>
        </p:nvSpPr>
        <p:spPr bwMode="auto">
          <a:xfrm rot="0" flipH="0" flipV="0">
            <a:off x="28986" y="-16221"/>
            <a:ext cx="3407544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07/11/2025</a:t>
            </a:r>
            <a:endParaRPr sz="2200"/>
          </a:p>
        </p:txBody>
      </p:sp>
      <p:sp>
        <p:nvSpPr>
          <p:cNvPr id="1634746169" name=""/>
          <p:cNvSpPr txBox="1"/>
          <p:nvPr/>
        </p:nvSpPr>
        <p:spPr bwMode="auto">
          <a:xfrm rot="0" flipH="0" flipV="0">
            <a:off x="1088671" y="976204"/>
            <a:ext cx="106284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/>
              <a:t>Vấn đề 2: Mặc dù đã gôm 1 class lại train nhưng mAP của tập train vẫn không quá tốt</a:t>
            </a:r>
            <a:endParaRPr/>
          </a:p>
          <a:p>
            <a:pPr algn="just">
              <a:defRPr/>
            </a:pPr>
            <a:r>
              <a:rPr/>
              <a:t>	=&gt; Tập train - val chưa thật sự cùng phân phối</a:t>
            </a:r>
            <a:endParaRPr/>
          </a:p>
        </p:txBody>
      </p:sp>
      <p:pic>
        <p:nvPicPr>
          <p:cNvPr id="72592649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986" y="1939038"/>
            <a:ext cx="12188118" cy="4031309"/>
          </a:xfrm>
          <a:prstGeom prst="rect">
            <a:avLst/>
          </a:prstGeom>
        </p:spPr>
      </p:pic>
      <p:sp>
        <p:nvSpPr>
          <p:cNvPr id="1965814510" name=""/>
          <p:cNvSpPr txBox="1"/>
          <p:nvPr/>
        </p:nvSpPr>
        <p:spPr bwMode="auto">
          <a:xfrm rot="0" flipH="0" flipV="0">
            <a:off x="1973552" y="6216315"/>
            <a:ext cx="85295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Train</a:t>
            </a:r>
            <a:endParaRPr/>
          </a:p>
        </p:txBody>
      </p:sp>
      <p:sp>
        <p:nvSpPr>
          <p:cNvPr id="1924794079" name=""/>
          <p:cNvSpPr txBox="1"/>
          <p:nvPr/>
        </p:nvSpPr>
        <p:spPr bwMode="auto">
          <a:xfrm rot="0" flipH="0" flipV="0">
            <a:off x="8190136" y="6216315"/>
            <a:ext cx="85619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Val</a:t>
            </a:r>
            <a:endParaRPr/>
          </a:p>
        </p:txBody>
      </p:sp>
      <p:pic>
        <p:nvPicPr>
          <p:cNvPr id="207298943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088671" y="3009732"/>
            <a:ext cx="4971365" cy="1552240"/>
          </a:xfrm>
          <a:prstGeom prst="rect">
            <a:avLst/>
          </a:prstGeom>
        </p:spPr>
      </p:pic>
      <p:pic>
        <p:nvPicPr>
          <p:cNvPr id="103895118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200375" y="3070270"/>
            <a:ext cx="4583596" cy="14311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681823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-409473" y="309980"/>
            <a:ext cx="13183886" cy="6605670"/>
          </a:xfrm>
          <a:prstGeom prst="rect">
            <a:avLst/>
          </a:prstGeom>
        </p:spPr>
      </p:pic>
      <p:sp>
        <p:nvSpPr>
          <p:cNvPr id="1384773452" name=""/>
          <p:cNvSpPr txBox="1"/>
          <p:nvPr/>
        </p:nvSpPr>
        <p:spPr bwMode="auto">
          <a:xfrm rot="0" flipH="0" flipV="0">
            <a:off x="3912936" y="43367"/>
            <a:ext cx="436612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=&gt; Norm từng gaussian về [0, 1]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633808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-305704" y="1203157"/>
            <a:ext cx="12182710" cy="5522828"/>
          </a:xfrm>
          <a:prstGeom prst="rect">
            <a:avLst/>
          </a:prstGeom>
        </p:spPr>
      </p:pic>
      <p:sp>
        <p:nvSpPr>
          <p:cNvPr id="1322372450" name=""/>
          <p:cNvSpPr txBox="1"/>
          <p:nvPr/>
        </p:nvSpPr>
        <p:spPr bwMode="auto">
          <a:xfrm rot="0" flipH="0" flipV="0">
            <a:off x="1572499" y="167105"/>
            <a:ext cx="247315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688762186" name=""/>
          <p:cNvSpPr txBox="1"/>
          <p:nvPr/>
        </p:nvSpPr>
        <p:spPr bwMode="auto">
          <a:xfrm rot="0" flipH="0" flipV="0">
            <a:off x="3009605" y="350165"/>
            <a:ext cx="710269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có những điểm là overlap giữa các box =&gt; heat &gt; 1 =&gt; clip về 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896465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-167105" y="700087"/>
            <a:ext cx="12734924" cy="5457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488117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2990849" cy="2952749"/>
          </a:xfrm>
          <a:prstGeom prst="rect">
            <a:avLst/>
          </a:prstGeom>
        </p:spPr>
      </p:pic>
      <p:pic>
        <p:nvPicPr>
          <p:cNvPr id="208213677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074402" y="0"/>
            <a:ext cx="2990849" cy="2952749"/>
          </a:xfrm>
          <a:prstGeom prst="rect">
            <a:avLst/>
          </a:prstGeom>
        </p:spPr>
      </p:pic>
      <p:pic>
        <p:nvPicPr>
          <p:cNvPr id="70122764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48805" y="0"/>
            <a:ext cx="2990849" cy="2952749"/>
          </a:xfrm>
          <a:prstGeom prst="rect">
            <a:avLst/>
          </a:prstGeom>
        </p:spPr>
      </p:pic>
      <p:pic>
        <p:nvPicPr>
          <p:cNvPr id="107341154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139655" y="0"/>
            <a:ext cx="2990849" cy="2952749"/>
          </a:xfrm>
          <a:prstGeom prst="rect">
            <a:avLst/>
          </a:prstGeom>
        </p:spPr>
      </p:pic>
      <p:pic>
        <p:nvPicPr>
          <p:cNvPr id="120818706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0" y="3007894"/>
            <a:ext cx="2990849" cy="35432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948497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-34779" y="3007893"/>
            <a:ext cx="3060410" cy="3625681"/>
          </a:xfrm>
          <a:prstGeom prst="rect">
            <a:avLst/>
          </a:prstGeom>
        </p:spPr>
      </p:pic>
      <p:pic>
        <p:nvPicPr>
          <p:cNvPr id="125352175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140657" y="0"/>
            <a:ext cx="2971800" cy="2952749"/>
          </a:xfrm>
          <a:prstGeom prst="rect">
            <a:avLst/>
          </a:prstGeom>
        </p:spPr>
      </p:pic>
      <p:pic>
        <p:nvPicPr>
          <p:cNvPr id="89290946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040647" y="0"/>
            <a:ext cx="2971800" cy="2952749"/>
          </a:xfrm>
          <a:prstGeom prst="rect">
            <a:avLst/>
          </a:prstGeom>
        </p:spPr>
      </p:pic>
      <p:pic>
        <p:nvPicPr>
          <p:cNvPr id="18788400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525" y="0"/>
            <a:ext cx="2971800" cy="2952749"/>
          </a:xfrm>
          <a:prstGeom prst="rect">
            <a:avLst/>
          </a:prstGeom>
        </p:spPr>
      </p:pic>
      <p:pic>
        <p:nvPicPr>
          <p:cNvPr id="173460497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079289" y="0"/>
            <a:ext cx="2971800" cy="2952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2025-11-10T15:18:14Z</dcterms:modified>
</cp:coreProperties>
</file>